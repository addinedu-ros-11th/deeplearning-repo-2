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1920240"/>
            <a:ext cx="74980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FFFFFF"/>
                </a:solidFill>
                <a:latin typeface="Noto Sans CJK KR"/>
              </a:defRPr>
            </a:pPr>
            <a:r>
              <a:t>높이 차이가 전체 키의 20% 미만이면 누운 것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3017520"/>
            <a:ext cx="7498080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0">
                <a:solidFill>
                  <a:srgbClr val="E6E6E6"/>
                </a:solidFill>
                <a:latin typeface="Noto Sans CJK KR"/>
              </a:defRPr>
            </a:pPr>
            <a:r>
              <a:t>작성일: 2026년 1월 8일</a:t>
            </a:r>
            <a:br/>
            <a:r>
              <a:t>주제: 얼굴 인식 및 하이브리드 낙상 감지 시스템</a:t>
            </a:r>
            <a:br/>
            <a:r>
              <a:t>팀: 관심법(MIND_READING)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83680"/>
            <a:ext cx="9144000" cy="27432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80467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B1F3A"/>
                </a:solidFill>
                <a:latin typeface="Noto Sans CJK KR"/>
              </a:defRPr>
            </a:pPr>
            <a:r>
              <a:t>1. 🎯 프로젝트 핵심 소개 (Overview)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97280"/>
            <a:ext cx="7863840" cy="5120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ts val="800"/>
              </a:spcBef>
              <a:spcAft>
                <a:spcPts val="600"/>
              </a:spcAft>
              <a:defRPr b="1" sz="2000">
                <a:solidFill>
                  <a:srgbClr val="222222"/>
                </a:solidFill>
                <a:latin typeface="Noto Sans CJK KR"/>
              </a:defRPr>
            </a:pPr>
            <a:r>
              <a:t>3줄 요약</a:t>
            </a:r>
          </a:p>
          <a:p>
            <a:pPr>
              <a:spcAft>
                <a:spcPts val="600"/>
              </a:spcAft>
              <a:defRPr sz="1800">
                <a:solidFill>
                  <a:srgbClr val="222222"/>
                </a:solidFill>
                <a:latin typeface="Noto Sans CJK KR"/>
              </a:defRPr>
            </a:pPr>
            <a:r>
              <a:t>- "누구인가?": InsightFace를 활용한 0.2초 초고속 신원 확인</a:t>
            </a:r>
          </a:p>
          <a:p>
            <a:pPr>
              <a:spcAft>
                <a:spcPts val="600"/>
              </a:spcAft>
              <a:defRPr sz="1800">
                <a:solidFill>
                  <a:srgbClr val="222222"/>
                </a:solidFill>
                <a:latin typeface="Noto Sans CJK KR"/>
              </a:defRPr>
            </a:pPr>
            <a:r>
              <a:t>- "위험한가?": YOLOv11 Pose 추정과 생체역학(Biomechanics) 알고리즘의 결합</a:t>
            </a:r>
          </a:p>
          <a:p>
            <a:pPr>
              <a:spcAft>
                <a:spcPts val="600"/>
              </a:spcAft>
              <a:defRPr sz="1800">
                <a:solidFill>
                  <a:srgbClr val="222222"/>
                </a:solidFill>
                <a:latin typeface="Noto Sans CJK KR"/>
              </a:defRPr>
            </a:pPr>
            <a:r>
              <a:t>- "효율적인가?": 고비용 학습 대신, 경량화 모델과 기하학적 룰 기반 접근으로 실시간성 확보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80467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B1F3A"/>
                </a:solidFill>
                <a:latin typeface="Noto Sans CJK KR"/>
              </a:defRPr>
            </a:pPr>
            <a:r>
              <a:t>2. 💡 기술적 문제 해결 (Problem Solving)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97280"/>
            <a:ext cx="7863840" cy="5120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ts val="800"/>
              </a:spcBef>
              <a:spcAft>
                <a:spcPts val="600"/>
              </a:spcAft>
              <a:defRPr b="1" sz="2000">
                <a:solidFill>
                  <a:srgbClr val="222222"/>
                </a:solidFill>
                <a:latin typeface="Noto Sans CJK KR"/>
              </a:defRPr>
            </a:pPr>
            <a:r>
              <a:t>🛑 난제 (Challenge): 데이터의 부족과 오버피팅</a:t>
            </a:r>
          </a:p>
          <a:p>
            <a:pPr>
              <a:spcAft>
                <a:spcPts val="600"/>
              </a:spcAft>
              <a:defRPr sz="1800">
                <a:solidFill>
                  <a:srgbClr val="222222"/>
                </a:solidFill>
                <a:latin typeface="Noto Sans CJK KR"/>
              </a:defRPr>
            </a:pPr>
            <a:r>
              <a:t>*   초기 시도: 낙상(Fall) 이미지 데이터를 수집하여 YOLO Object Detection 학습 시도</a:t>
            </a:r>
          </a:p>
          <a:p>
            <a:pPr>
              <a:spcAft>
                <a:spcPts val="600"/>
              </a:spcAft>
              <a:defRPr sz="1800">
                <a:solidFill>
                  <a:srgbClr val="222222"/>
                </a:solidFill>
                <a:latin typeface="Noto Sans CJK KR"/>
              </a:defRPr>
            </a:pPr>
            <a:r>
              <a:t>*   한계점:</a:t>
            </a:r>
          </a:p>
          <a:p>
            <a:pPr>
              <a:spcAft>
                <a:spcPts val="600"/>
              </a:spcAft>
              <a:defRPr sz="1800">
                <a:solidFill>
                  <a:srgbClr val="222222"/>
                </a:solidFill>
                <a:latin typeface="Noto Sans CJK KR"/>
              </a:defRPr>
            </a:pPr>
            <a:r>
              <a:t>*   현장 CCTV 각도(High-angle)에 맞는 양질의 낙상 데이터 확보 불가</a:t>
            </a:r>
          </a:p>
          <a:p>
            <a:pPr>
              <a:spcAft>
                <a:spcPts val="600"/>
              </a:spcAft>
              <a:defRPr sz="1800">
                <a:solidFill>
                  <a:srgbClr val="222222"/>
                </a:solidFill>
                <a:latin typeface="Noto Sans CJK KR"/>
              </a:defRPr>
            </a:pPr>
            <a:r>
              <a:t>*   데이터 부족으로 인해 특정 자세만 학습되는 과적합(Overfitting) 발생</a:t>
            </a:r>
          </a:p>
          <a:p>
            <a:pPr>
              <a:spcAft>
                <a:spcPts val="600"/>
              </a:spcAft>
              <a:defRPr sz="1800">
                <a:solidFill>
                  <a:srgbClr val="222222"/>
                </a:solidFill>
                <a:latin typeface="Noto Sans CJK KR"/>
              </a:defRPr>
            </a:pPr>
            <a:r>
              <a:t>*   학습 비용과 시간이 과다하게 소요됨</a:t>
            </a:r>
          </a:p>
          <a:p>
            <a:pPr>
              <a:spcBef>
                <a:spcPts val="800"/>
              </a:spcBef>
              <a:spcAft>
                <a:spcPts val="600"/>
              </a:spcAft>
              <a:defRPr b="1" sz="2000">
                <a:solidFill>
                  <a:srgbClr val="222222"/>
                </a:solidFill>
                <a:latin typeface="Noto Sans CJK KR"/>
              </a:defRPr>
            </a:pPr>
            <a:r>
              <a:t>✅ 해결책 (Solution): "AI + Rule-Based" 하이브리드 접근</a:t>
            </a:r>
          </a:p>
          <a:p>
            <a:pPr>
              <a:spcAft>
                <a:spcPts val="600"/>
              </a:spcAft>
              <a:defRPr sz="1800">
                <a:solidFill>
                  <a:srgbClr val="222222"/>
                </a:solidFill>
                <a:latin typeface="Noto Sans CJK KR"/>
              </a:defRPr>
            </a:pPr>
            <a:r>
              <a:t>*   전략 변경: AI는 "사람의 관절 위치(Skeleton)"만 찾게 하고, "판단"은 알고리즘(Code)이 수행한다.</a:t>
            </a:r>
          </a:p>
          <a:p>
            <a:pPr>
              <a:spcAft>
                <a:spcPts val="600"/>
              </a:spcAft>
              <a:defRPr sz="1800">
                <a:solidFill>
                  <a:srgbClr val="222222"/>
                </a:solidFill>
                <a:latin typeface="Noto Sans CJK KR"/>
              </a:defRPr>
            </a:pPr>
            <a:r>
              <a:t>*   Why YOLOv11 Nano Pose?</a:t>
            </a:r>
          </a:p>
          <a:p>
            <a:pPr>
              <a:spcAft>
                <a:spcPts val="600"/>
              </a:spcAft>
              <a:defRPr sz="1800">
                <a:solidFill>
                  <a:srgbClr val="222222"/>
                </a:solidFill>
                <a:latin typeface="Noto Sans CJK KR"/>
              </a:defRPr>
            </a:pPr>
            <a:r>
              <a:t>*   이미 수십만 장의 데이터로 "사람의 형태"를 완벽히 학습한 모델</a:t>
            </a:r>
          </a:p>
          <a:p>
            <a:pPr>
              <a:spcAft>
                <a:spcPts val="600"/>
              </a:spcAft>
              <a:defRPr sz="1800">
                <a:solidFill>
                  <a:srgbClr val="222222"/>
                </a:solidFill>
                <a:latin typeface="Noto Sans CJK KR"/>
              </a:defRPr>
            </a:pPr>
            <a:r>
              <a:t>*   별도의 재학습(Fine-tuning) 없이 즉시 투입 가능</a:t>
            </a:r>
          </a:p>
          <a:p>
            <a:pPr>
              <a:spcAft>
                <a:spcPts val="600"/>
              </a:spcAft>
              <a:defRPr sz="1800">
                <a:solidFill>
                  <a:srgbClr val="222222"/>
                </a:solidFill>
                <a:latin typeface="Noto Sans CJK KR"/>
              </a:defRPr>
            </a:pPr>
            <a:r>
              <a:t>*   가장 가벼운 Nano 모델 사용으로 60 FPS 이상의 성능 확보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80467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B1F3A"/>
                </a:solidFill>
                <a:latin typeface="Noto Sans CJK KR"/>
              </a:defRPr>
            </a:pPr>
            <a:r>
              <a:t>3. 📐 낙상 감지 로직의 시각적 이해 (Visualizing the Rules)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97280"/>
            <a:ext cx="7863840" cy="5120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222222"/>
                </a:solidFill>
                <a:latin typeface="Noto Sans CJK KR"/>
              </a:defRPr>
            </a:pPr>
            <a:r>
              <a:t>※ 이 부분이 PPT의 핵심 시각화 자료입니다.</a:t>
            </a:r>
          </a:p>
          <a:p>
            <a:pPr>
              <a:spcAft>
                <a:spcPts val="600"/>
              </a:spcAft>
              <a:defRPr sz="1800">
                <a:solidFill>
                  <a:srgbClr val="222222"/>
                </a:solidFill>
                <a:latin typeface="Noto Sans CJK KR"/>
              </a:defRPr>
            </a:pPr>
            <a:r>
              <a:t>우리는 두 가지의 기하학적 규칙(Geometry Rules)을 사용하여 낙상을 감지합니다.</a:t>
            </a:r>
          </a:p>
          <a:p>
            <a:pPr>
              <a:spcBef>
                <a:spcPts val="800"/>
              </a:spcBef>
              <a:spcAft>
                <a:spcPts val="600"/>
              </a:spcAft>
              <a:defRPr b="1" sz="2000">
                <a:solidFill>
                  <a:srgbClr val="222222"/>
                </a:solidFill>
                <a:latin typeface="Noto Sans CJK KR"/>
              </a:defRPr>
            </a:pPr>
            <a:r>
              <a:t>🖼️ Rule 1: 박스 비율 검사 (Aspect Ratio Check)</a:t>
            </a:r>
          </a:p>
          <a:p>
            <a:pPr>
              <a:spcAft>
                <a:spcPts val="600"/>
              </a:spcAft>
              <a:defRPr sz="1800">
                <a:solidFill>
                  <a:srgbClr val="222222"/>
                </a:solidFill>
                <a:latin typeface="Noto Sans CJK KR"/>
              </a:defRPr>
            </a:pPr>
            <a:r>
              <a:t>"사람은 서 있으면 길쭉하고, 누우면 납작해진다."</a:t>
            </a:r>
          </a:p>
          <a:p>
            <a:pPr>
              <a:spcAft>
                <a:spcPts val="600"/>
              </a:spcAft>
              <a:defRPr sz="1800">
                <a:solidFill>
                  <a:srgbClr val="222222"/>
                </a:solidFill>
                <a:latin typeface="Noto Sans CJK KR"/>
              </a:defRPr>
            </a:pPr>
            <a:r>
              <a:t>*   설명: Bounding Box의 가로(Width)와 세로(Height) 비율을 계산합니다.</a:t>
            </a:r>
          </a:p>
          <a:p>
            <a:pPr>
              <a:spcAft>
                <a:spcPts val="600"/>
              </a:spcAft>
              <a:defRPr sz="1800">
                <a:solidFill>
                  <a:srgbClr val="222222"/>
                </a:solidFill>
                <a:latin typeface="Noto Sans CJK KR"/>
              </a:defRPr>
            </a:pPr>
            <a:r>
              <a:t>   판단 기준: `Width &gt; Height  0.9` (가로가 세로보다 길거나 비슷하면 낙상)</a:t>
            </a:r>
          </a:p>
          <a:p>
            <a:pPr>
              <a:spcAft>
                <a:spcPts val="600"/>
              </a:spcAft>
              <a:defRPr sz="1800">
                <a:solidFill>
                  <a:srgbClr val="222222"/>
                </a:solidFill>
                <a:latin typeface="Noto Sans CJK KR"/>
              </a:defRPr>
            </a:pPr>
            <a:r>
              <a:t>```text</a:t>
            </a:r>
          </a:p>
          <a:p>
            <a:pPr>
              <a:spcAft>
                <a:spcPts val="600"/>
              </a:spcAft>
              <a:defRPr sz="1800">
                <a:solidFill>
                  <a:srgbClr val="222222"/>
                </a:solidFill>
                <a:latin typeface="Noto Sans CJK KR"/>
              </a:defRPr>
            </a:pPr>
            <a:r>
              <a:t>[ 정상 : Standing ]                 [ 낙상 : Fall ]</a:t>
            </a:r>
          </a:p>
          <a:p>
            <a:pPr>
              <a:spcAft>
                <a:spcPts val="600"/>
              </a:spcAft>
              <a:defRPr sz="1800">
                <a:solidFill>
                  <a:srgbClr val="222222"/>
                </a:solidFill>
                <a:latin typeface="Noto Sans CJK KR"/>
              </a:defRPr>
            </a:pPr>
            <a:r>
              <a:t>(Normal State)                   (Emergency!)</a:t>
            </a:r>
          </a:p>
          <a:p>
            <a:pPr>
              <a:spcAft>
                <a:spcPts val="600"/>
              </a:spcAft>
              <a:defRPr sz="1800">
                <a:solidFill>
                  <a:srgbClr val="222222"/>
                </a:solidFill>
                <a:latin typeface="Noto Sans CJK KR"/>
              </a:defRPr>
            </a:pPr>
            <a:r>
              <a:t>┌──────┐</a:t>
            </a:r>
          </a:p>
          <a:p>
            <a:pPr>
              <a:spcAft>
                <a:spcPts val="600"/>
              </a:spcAft>
              <a:defRPr sz="1800">
                <a:solidFill>
                  <a:srgbClr val="222222"/>
                </a:solidFill>
                <a:latin typeface="Noto Sans CJK KR"/>
              </a:defRPr>
            </a:pPr>
            <a:r>
              <a:t>│ HEAD │                      ┌────────────────────────┐</a:t>
            </a:r>
          </a:p>
          <a:p>
            <a:pPr>
              <a:spcAft>
                <a:spcPts val="600"/>
              </a:spcAft>
              <a:defRPr sz="1800">
                <a:solidFill>
                  <a:srgbClr val="222222"/>
                </a:solidFill>
                <a:latin typeface="Noto Sans CJK KR"/>
              </a:defRPr>
            </a:pPr>
            <a:r>
              <a:t>│  │   │   Height (H)         │   HEAD ── BODY ── LEGS │  Height (h)</a:t>
            </a:r>
          </a:p>
          <a:p>
            <a:pPr>
              <a:spcAft>
                <a:spcPts val="600"/>
              </a:spcAft>
              <a:defRPr sz="1800">
                <a:solidFill>
                  <a:srgbClr val="222222"/>
                </a:solidFill>
                <a:latin typeface="Noto Sans CJK KR"/>
              </a:defRPr>
            </a:pPr>
            <a:r>
              <a:t>│ BODY │     (큼)             └────────────────────────┘    (작음)</a:t>
            </a:r>
          </a:p>
          <a:p>
            <a:pPr>
              <a:spcAft>
                <a:spcPts val="600"/>
              </a:spcAft>
              <a:defRPr sz="1800">
                <a:solidFill>
                  <a:srgbClr val="222222"/>
                </a:solidFill>
                <a:latin typeface="Noto Sans CJK KR"/>
              </a:defRPr>
            </a:pPr>
            <a:r>
              <a:t>│  │   │                          Width (W) (아주 큼)</a:t>
            </a:r>
          </a:p>
          <a:p>
            <a:pPr>
              <a:spcAft>
                <a:spcPts val="600"/>
              </a:spcAft>
              <a:defRPr sz="1800">
                <a:solidFill>
                  <a:srgbClr val="222222"/>
                </a:solidFill>
                <a:latin typeface="Noto Sans CJK KR"/>
              </a:defRPr>
            </a:pPr>
            <a:r>
              <a:t>│ LEGS │</a:t>
            </a:r>
          </a:p>
          <a:p>
            <a:pPr>
              <a:spcAft>
                <a:spcPts val="600"/>
              </a:spcAft>
              <a:defRPr sz="1800">
                <a:solidFill>
                  <a:srgbClr val="222222"/>
                </a:solidFill>
                <a:latin typeface="Noto Sans CJK KR"/>
              </a:defRPr>
            </a:pPr>
            <a:r>
              <a:t>└──────┘                      ▶ 판정: W &gt; h (가로가 더 김)</a:t>
            </a:r>
          </a:p>
          <a:p>
            <a:pPr>
              <a:spcAft>
                <a:spcPts val="600"/>
              </a:spcAft>
              <a:defRPr sz="1800">
                <a:solidFill>
                  <a:srgbClr val="222222"/>
                </a:solidFill>
                <a:latin typeface="Noto Sans CJK KR"/>
              </a:defRPr>
            </a:pPr>
            <a:r>
              <a:t>Width (w)                     ▶ 결과: 🔴 FALL DETECTED</a:t>
            </a:r>
          </a:p>
          <a:p>
            <a:pPr>
              <a:spcAft>
                <a:spcPts val="600"/>
              </a:spcAft>
              <a:defRPr sz="1800">
                <a:solidFill>
                  <a:srgbClr val="222222"/>
                </a:solidFill>
                <a:latin typeface="Noto Sans CJK KR"/>
              </a:defRPr>
            </a:pPr>
            <a:r>
              <a:t>(작음)</a:t>
            </a:r>
          </a:p>
          <a:p>
            <a:pPr>
              <a:spcAft>
                <a:spcPts val="600"/>
              </a:spcAft>
              <a:defRPr sz="1800">
                <a:solidFill>
                  <a:srgbClr val="222222"/>
                </a:solidFill>
                <a:latin typeface="Noto Sans CJK KR"/>
              </a:defRPr>
            </a:pPr>
            <a:r>
              <a:t>▶ 판정: w &lt; H (세로가 더 김)</a:t>
            </a:r>
          </a:p>
          <a:p>
            <a:pPr>
              <a:spcAft>
                <a:spcPts val="600"/>
              </a:spcAft>
              <a:defRPr sz="1800">
                <a:solidFill>
                  <a:srgbClr val="222222"/>
                </a:solidFill>
                <a:latin typeface="Noto Sans CJK KR"/>
              </a:defRPr>
            </a:pPr>
            <a:r>
              <a:t>▶ 결과: 🟢 OK</a:t>
            </a:r>
          </a:p>
          <a:p>
            <a:pPr>
              <a:spcAft>
                <a:spcPts val="600"/>
              </a:spcAft>
              <a:defRPr sz="1800">
                <a:solidFill>
                  <a:srgbClr val="222222"/>
                </a:solidFill>
                <a:latin typeface="Noto Sans CJK KR"/>
              </a:defRPr>
            </a:pPr>
            <a:r>
              <a:t>```</a:t>
            </a:r>
          </a:p>
          <a:p>
            <a:pPr>
              <a:spcBef>
                <a:spcPts val="800"/>
              </a:spcBef>
              <a:spcAft>
                <a:spcPts val="600"/>
              </a:spcAft>
              <a:defRPr b="1" sz="2000">
                <a:solidFill>
                  <a:srgbClr val="222222"/>
                </a:solidFill>
                <a:latin typeface="Noto Sans CJK KR"/>
              </a:defRPr>
            </a:pPr>
            <a:r>
              <a:t>🖼️ Rule 2: 척추 각도 검사 (Torso Angle / Body Geometry)</a:t>
            </a:r>
          </a:p>
          <a:p>
            <a:pPr>
              <a:spcAft>
                <a:spcPts val="600"/>
              </a:spcAft>
              <a:defRPr sz="1800">
                <a:solidFill>
                  <a:srgbClr val="222222"/>
                </a:solidFill>
                <a:latin typeface="Noto Sans CJK KR"/>
              </a:defRPr>
            </a:pPr>
            <a:r>
              <a:t>"서 있는 사람은 척추가 수직이고, 누운 사람은 척추가 수평이다."</a:t>
            </a:r>
          </a:p>
          <a:p>
            <a:pPr>
              <a:spcAft>
                <a:spcPts val="600"/>
              </a:spcAft>
              <a:defRPr sz="1800">
                <a:solidFill>
                  <a:srgbClr val="222222"/>
                </a:solidFill>
                <a:latin typeface="Noto Sans CJK KR"/>
              </a:defRPr>
            </a:pPr>
            <a:r>
              <a:t>*   설명: 어깨(Shoulder)와 골반(Hip)의 Y좌표(높이) 차이를 계산합니다.</a:t>
            </a:r>
          </a:p>
          <a:p>
            <a:pPr>
              <a:spcAft>
                <a:spcPts val="600"/>
              </a:spcAft>
              <a:defRPr sz="1800">
                <a:solidFill>
                  <a:srgbClr val="222222"/>
                </a:solidFill>
                <a:latin typeface="Noto Sans CJK KR"/>
              </a:defRPr>
            </a:pPr>
            <a:r>
              <a:t>   판단 기준: `|어깨Y - 골반Y| &lt; 키  0.2` (높이 차이가 거의 없으면 낙상)</a:t>
            </a:r>
          </a:p>
          <a:p>
            <a:pPr>
              <a:spcAft>
                <a:spcPts val="600"/>
              </a:spcAft>
              <a:defRPr sz="1800">
                <a:solidFill>
                  <a:srgbClr val="222222"/>
                </a:solidFill>
                <a:latin typeface="Noto Sans CJK KR"/>
              </a:defRPr>
            </a:pPr>
            <a:r>
              <a:t>```text</a:t>
            </a:r>
          </a:p>
          <a:p>
            <a:pPr>
              <a:spcAft>
                <a:spcPts val="600"/>
              </a:spcAft>
              <a:defRPr sz="1800">
                <a:solidFill>
                  <a:srgbClr val="222222"/>
                </a:solidFill>
                <a:latin typeface="Noto Sans CJK KR"/>
              </a:defRPr>
            </a:pPr>
            <a:r>
              <a:t>[ 정상 : Standing ]                       [ 낙상 : Fall ]</a:t>
            </a:r>
          </a:p>
          <a:p>
            <a:pPr>
              <a:spcBef>
                <a:spcPts val="800"/>
              </a:spcBef>
              <a:spcAft>
                <a:spcPts val="600"/>
              </a:spcAft>
              <a:defRPr b="1" sz="2000">
                <a:solidFill>
                  <a:srgbClr val="222222"/>
                </a:solidFill>
                <a:latin typeface="Noto Sans CJK KR"/>
              </a:defRPr>
            </a:pPr>
            <a:r>
              <a:t>데이터셋</a:t>
            </a:r>
          </a:p>
          <a:p>
            <a:pPr>
              <a:spcAft>
                <a:spcPts val="600"/>
              </a:spcAft>
              <a:defRPr sz="1800">
                <a:solidFill>
                  <a:srgbClr val="222222"/>
                </a:solidFill>
                <a:latin typeface="Noto Sans CJK KR"/>
              </a:defRPr>
            </a:pPr>
            <a:r>
              <a:t>- 쓰러짐/낙상: `Simuletic Synthetic Fall &amp; Incident Detection Dataset`</a:t>
            </a:r>
          </a:p>
          <a:p>
            <a:pPr>
              <a:spcAft>
                <a:spcPts val="600"/>
              </a:spcAft>
              <a:defRPr sz="1800">
                <a:solidFill>
                  <a:srgbClr val="222222"/>
                </a:solidFill>
                <a:latin typeface="Noto Sans CJK KR"/>
              </a:defRPr>
            </a:pPr>
            <a:r>
              <a:t>- 컴퓨터 그래픽으로 생성된 합성 데이터셋 (CC BY 4.0 라이선스).</a:t>
            </a:r>
          </a:p>
          <a:p>
            <a:pPr>
              <a:spcAft>
                <a:spcPts val="600"/>
              </a:spcAft>
              <a:defRPr sz="1800">
                <a:solidFill>
                  <a:srgbClr val="222222"/>
                </a:solidFill>
                <a:latin typeface="Noto Sans CJK KR"/>
              </a:defRPr>
            </a:pPr>
            <a:r>
              <a:t>- 실제 사람의 민감한 정보 없이 안전하게 모델 학습.</a:t>
            </a:r>
          </a:p>
          <a:p>
            <a:pPr>
              <a:spcAft>
                <a:spcPts val="600"/>
              </a:spcAft>
              <a:defRPr sz="1800">
                <a:solidFill>
                  <a:srgbClr val="222222"/>
                </a:solidFill>
                <a:latin typeface="Noto Sans CJK KR"/>
              </a:defRPr>
            </a:pPr>
            <a:r>
              <a:t>- 자체 데이터: 얼굴 등록 등을 위한 이미지 데이터 수집 및 활용.</a:t>
            </a:r>
          </a:p>
          <a:p>
            <a:pPr>
              <a:spcAft>
                <a:spcPts val="600"/>
              </a:spcAft>
              <a:defRPr sz="1800">
                <a:solidFill>
                  <a:srgbClr val="222222"/>
                </a:solidFill>
                <a:latin typeface="Noto Sans CJK KR"/>
              </a:defRPr>
            </a:pPr>
            <a:r>
              <a:t>O  &lt;---- [어깨: Shoulder]</a:t>
            </a:r>
          </a:p>
          <a:p>
            <a:pPr>
              <a:spcAft>
                <a:spcPts val="600"/>
              </a:spcAft>
              <a:defRPr sz="1800">
                <a:solidFill>
                  <a:srgbClr val="222222"/>
                </a:solidFill>
                <a:latin typeface="Noto Sans CJK KR"/>
              </a:defRPr>
            </a:pPr>
            <a:r>
              <a:t>│                                   [어깨] ────── [골반]</a:t>
            </a:r>
          </a:p>
          <a:p>
            <a:pPr>
              <a:spcAft>
                <a:spcPts val="600"/>
              </a:spcAft>
              <a:defRPr sz="1800">
                <a:solidFill>
                  <a:srgbClr val="222222"/>
                </a:solidFill>
                <a:latin typeface="Noto Sans CJK KR"/>
              </a:defRPr>
            </a:pPr>
            <a:r>
              <a:t>│ Delta Y (수직 거리)                  ▲</a:t>
            </a:r>
          </a:p>
          <a:p>
            <a:pPr>
              <a:spcAft>
                <a:spcPts val="600"/>
              </a:spcAft>
              <a:defRPr sz="1800">
                <a:solidFill>
                  <a:srgbClr val="222222"/>
                </a:solidFill>
                <a:latin typeface="Noto Sans CJK KR"/>
              </a:defRPr>
            </a:pPr>
            <a:r>
              <a:t>│ (아주 김)                            │ Delta Y ≈ 0</a:t>
            </a:r>
          </a:p>
          <a:p>
            <a:pPr>
              <a:spcAft>
                <a:spcPts val="600"/>
              </a:spcAft>
              <a:defRPr sz="1800">
                <a:solidFill>
                  <a:srgbClr val="222222"/>
                </a:solidFill>
                <a:latin typeface="Noto Sans CJK KR"/>
              </a:defRPr>
            </a:pPr>
            <a:r>
              <a:t>│                                      │ (거의 차이 없음)</a:t>
            </a:r>
          </a:p>
          <a:p>
            <a:pPr>
              <a:spcAft>
                <a:spcPts val="600"/>
              </a:spcAft>
              <a:defRPr sz="1800">
                <a:solidFill>
                  <a:srgbClr val="222222"/>
                </a:solidFill>
                <a:latin typeface="Noto Sans CJK KR"/>
              </a:defRPr>
            </a:pPr>
            <a:r>
              <a:t>●  &lt;---- [골반: Hip]                   ▼</a:t>
            </a:r>
          </a:p>
          <a:p>
            <a:pPr>
              <a:spcAft>
                <a:spcPts val="600"/>
              </a:spcAft>
              <a:defRPr sz="1800">
                <a:solidFill>
                  <a:srgbClr val="222222"/>
                </a:solidFill>
                <a:latin typeface="Noto Sans CJK KR"/>
              </a:defRPr>
            </a:pPr>
            <a:r>
              <a:t>▶ 수직 거리(dy)가 키의 40~50% 차지      ▶ 수직 거리가 거의 0에 수렴 (수평)</a:t>
            </a:r>
          </a:p>
          <a:p>
            <a:pPr>
              <a:spcAft>
                <a:spcPts val="600"/>
              </a:spcAft>
              <a:defRPr sz="1800">
                <a:solidFill>
                  <a:srgbClr val="222222"/>
                </a:solidFill>
                <a:latin typeface="Noto Sans CJK KR"/>
              </a:defRPr>
            </a:pPr>
            <a:r>
              <a:t>▶ 결과: 🟢 OK                         ▶ 결과: 🔴 FALL DETECTED</a:t>
            </a:r>
          </a:p>
          <a:p>
            <a:pPr>
              <a:spcAft>
                <a:spcPts val="600"/>
              </a:spcAft>
              <a:defRPr sz="1800">
                <a:solidFill>
                  <a:srgbClr val="222222"/>
                </a:solidFill>
                <a:latin typeface="Noto Sans CJK KR"/>
              </a:defRPr>
            </a:pPr>
            <a:r>
              <a:t>```</a:t>
            </a:r>
          </a:p>
          <a:p>
            <a:pPr>
              <a:spcBef>
                <a:spcPts val="800"/>
              </a:spcBef>
              <a:spcAft>
                <a:spcPts val="600"/>
              </a:spcAft>
              <a:defRPr b="1" sz="2000">
                <a:solidFill>
                  <a:srgbClr val="222222"/>
                </a:solidFill>
                <a:latin typeface="Noto Sans CJK KR"/>
              </a:defRPr>
            </a:pPr>
            <a:r>
              <a:t>🖼️ Rule 3: 토르소 역전 검사 (Inverted Torso / Upside Down)</a:t>
            </a:r>
          </a:p>
          <a:p>
            <a:pPr>
              <a:spcAft>
                <a:spcPts val="600"/>
              </a:spcAft>
              <a:defRPr sz="1800">
                <a:solidFill>
                  <a:srgbClr val="222222"/>
                </a:solidFill>
                <a:latin typeface="Noto Sans CJK KR"/>
              </a:defRPr>
            </a:pPr>
            <a:r>
              <a:t>"사람의 어깨는 항상 골반보다 위에 있어야 한다."</a:t>
            </a:r>
          </a:p>
          <a:p>
            <a:pPr>
              <a:spcAft>
                <a:spcPts val="600"/>
              </a:spcAft>
              <a:defRPr sz="1800">
                <a:solidFill>
                  <a:srgbClr val="222222"/>
                </a:solidFill>
                <a:latin typeface="Noto Sans CJK KR"/>
              </a:defRPr>
            </a:pPr>
            <a:r>
              <a:t>*   설명: 어깨(Shoulder)와 골반(Hip)의 절대 위치를 비교합니다.</a:t>
            </a:r>
          </a:p>
          <a:p>
            <a:pPr>
              <a:spcAft>
                <a:spcPts val="600"/>
              </a:spcAft>
              <a:defRPr sz="1800">
                <a:solidFill>
                  <a:srgbClr val="222222"/>
                </a:solidFill>
                <a:latin typeface="Noto Sans CJK KR"/>
              </a:defRPr>
            </a:pPr>
            <a:r>
              <a:t>*   배경: 카메라 정면/후면으로 넘어질 경우, 화면상으로는 척추가 짧아 보이지만(Rule 2 통과 미비), 어깨와 골반의 상하 관계가 뒤바뀌는 현상이 발생합니다.</a:t>
            </a:r>
          </a:p>
          <a:p>
            <a:pPr>
              <a:spcAft>
                <a:spcPts val="600"/>
              </a:spcAft>
              <a:defRPr sz="1800">
                <a:solidFill>
                  <a:srgbClr val="222222"/>
                </a:solidFill>
                <a:latin typeface="Noto Sans CJK KR"/>
              </a:defRPr>
            </a:pPr>
            <a:r>
              <a:t>*   판단 기준: `어깨 Y좌표 &gt; 골반 Y좌표` (이미지 좌표계에서 Y는 아래로 갈수록 값이 커짐. 즉, 어깨가 더 아래에 있다는 의미)</a:t>
            </a:r>
          </a:p>
          <a:p>
            <a:pPr>
              <a:spcAft>
                <a:spcPts val="600"/>
              </a:spcAft>
              <a:defRPr sz="1800">
                <a:solidFill>
                  <a:srgbClr val="222222"/>
                </a:solidFill>
                <a:latin typeface="Noto Sans CJK KR"/>
              </a:defRPr>
            </a:pPr>
            <a:r>
              <a:t>```text</a:t>
            </a:r>
          </a:p>
          <a:p>
            <a:pPr>
              <a:spcAft>
                <a:spcPts val="600"/>
              </a:spcAft>
              <a:defRPr sz="1800">
                <a:solidFill>
                  <a:srgbClr val="222222"/>
                </a:solidFill>
                <a:latin typeface="Noto Sans CJK KR"/>
              </a:defRPr>
            </a:pPr>
            <a:r>
              <a:t>(카메라 정면/후면으로 거꾸로 넘어진 상황)</a:t>
            </a:r>
          </a:p>
          <a:p>
            <a:pPr>
              <a:spcAft>
                <a:spcPts val="600"/>
              </a:spcAft>
              <a:defRPr sz="1800">
                <a:solidFill>
                  <a:srgbClr val="222222"/>
                </a:solidFill>
                <a:latin typeface="Noto Sans CJK KR"/>
              </a:defRPr>
            </a:pPr>
            <a:r>
              <a:t>●  &lt;---- [골반: Hip] (화면 위쪽 = Y값 작음)</a:t>
            </a:r>
          </a:p>
          <a:p>
            <a:pPr>
              <a:spcAft>
                <a:spcPts val="600"/>
              </a:spcAft>
              <a:defRPr sz="1800">
                <a:solidFill>
                  <a:srgbClr val="222222"/>
                </a:solidFill>
                <a:latin typeface="Noto Sans CJK KR"/>
              </a:defRPr>
            </a:pPr>
            <a:r>
              <a:t>│</a:t>
            </a:r>
          </a:p>
          <a:p>
            <a:pPr>
              <a:spcAft>
                <a:spcPts val="600"/>
              </a:spcAft>
              <a:defRPr sz="1800">
                <a:solidFill>
                  <a:srgbClr val="222222"/>
                </a:solidFill>
                <a:latin typeface="Noto Sans CJK KR"/>
              </a:defRPr>
            </a:pPr>
            <a:r>
              <a:t>────┼────</a:t>
            </a:r>
          </a:p>
          <a:p>
            <a:pPr>
              <a:spcAft>
                <a:spcPts val="600"/>
              </a:spcAft>
              <a:defRPr sz="1800">
                <a:solidFill>
                  <a:srgbClr val="222222"/>
                </a:solidFill>
                <a:latin typeface="Noto Sans CJK KR"/>
              </a:defRPr>
            </a:pPr>
            <a:r>
              <a:t>│</a:t>
            </a:r>
          </a:p>
          <a:p>
            <a:pPr>
              <a:spcAft>
                <a:spcPts val="600"/>
              </a:spcAft>
              <a:defRPr sz="1800">
                <a:solidFill>
                  <a:srgbClr val="222222"/>
                </a:solidFill>
                <a:latin typeface="Noto Sans CJK KR"/>
              </a:defRPr>
            </a:pPr>
            <a:r>
              <a:t>O  &lt;---- [어깨: Shoulder] (화면 아래쪽 = Y값 큼)</a:t>
            </a:r>
          </a:p>
          <a:p>
            <a:pPr>
              <a:spcAft>
                <a:spcPts val="600"/>
              </a:spcAft>
              <a:defRPr sz="1800">
                <a:solidFill>
                  <a:srgbClr val="222222"/>
                </a:solidFill>
                <a:latin typeface="Noto Sans CJK KR"/>
              </a:defRPr>
            </a:pPr>
            <a:r>
              <a:t>▶ 판정: Shoulder_Y &gt; Hip_Y (어깨가 골반보다 밑에 있음)</a:t>
            </a:r>
          </a:p>
          <a:p>
            <a:pPr>
              <a:spcAft>
                <a:spcPts val="600"/>
              </a:spcAft>
              <a:defRPr sz="1800">
                <a:solidFill>
                  <a:srgbClr val="222222"/>
                </a:solidFill>
                <a:latin typeface="Noto Sans CJK KR"/>
              </a:defRPr>
            </a:pPr>
            <a:r>
              <a:t>▶ 결과: 🔴 FALL DETECTED (즉시 낙상 판정)</a:t>
            </a:r>
          </a:p>
          <a:p>
            <a:pPr>
              <a:spcAft>
                <a:spcPts val="600"/>
              </a:spcAft>
              <a:defRPr sz="1800">
                <a:solidFill>
                  <a:srgbClr val="222222"/>
                </a:solidFill>
                <a:latin typeface="Noto Sans CJK KR"/>
              </a:defRPr>
            </a:pPr>
            <a:r>
              <a:t>```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80467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B1F3A"/>
                </a:solidFill>
                <a:latin typeface="Noto Sans CJK KR"/>
              </a:defRPr>
            </a:pPr>
            <a:r>
              <a:t>4. 🚀 얼굴 인식 프로세스 (Face ID)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97280"/>
            <a:ext cx="7863840" cy="5120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ts val="800"/>
              </a:spcBef>
              <a:spcAft>
                <a:spcPts val="600"/>
              </a:spcAft>
              <a:defRPr b="1" sz="2000">
                <a:solidFill>
                  <a:srgbClr val="222222"/>
                </a:solidFill>
                <a:latin typeface="Noto Sans CJK KR"/>
              </a:defRPr>
            </a:pPr>
            <a:r>
              <a:t>순서도 (Process Flow)</a:t>
            </a:r>
          </a:p>
          <a:p>
            <a:pPr>
              <a:spcAft>
                <a:spcPts val="600"/>
              </a:spcAft>
              <a:defRPr sz="1800">
                <a:solidFill>
                  <a:srgbClr val="222222"/>
                </a:solidFill>
                <a:latin typeface="Noto Sans CJK KR"/>
              </a:defRPr>
            </a:pPr>
            <a:r>
              <a:t>- Face Detection (RetinaFace): CCTV 영상에서 얼굴 영역 컷팅</a:t>
            </a:r>
          </a:p>
          <a:p>
            <a:pPr>
              <a:spcAft>
                <a:spcPts val="600"/>
              </a:spcAft>
              <a:defRPr sz="1800">
                <a:solidFill>
                  <a:srgbClr val="222222"/>
                </a:solidFill>
                <a:latin typeface="Noto Sans CJK KR"/>
              </a:defRPr>
            </a:pPr>
            <a:r>
              <a:t>- Feature Embedding (ArcFace): 얼굴 이미지를 512개의 숫자 배열(Vector)로 변환</a:t>
            </a:r>
          </a:p>
          <a:p>
            <a:pPr>
              <a:spcAft>
                <a:spcPts val="600"/>
              </a:spcAft>
              <a:defRPr sz="1800">
                <a:solidFill>
                  <a:srgbClr val="222222"/>
                </a:solidFill>
                <a:latin typeface="Noto Sans CJK KR"/>
              </a:defRPr>
            </a:pPr>
            <a:r>
              <a:t>- Vector Matching: 사원 DB의 벡터와 코사인 유사도(Cosine Similarity) 비교</a:t>
            </a:r>
          </a:p>
          <a:p>
            <a:pPr>
              <a:spcAft>
                <a:spcPts val="600"/>
              </a:spcAft>
              <a:defRPr sz="1800">
                <a:solidFill>
                  <a:srgbClr val="222222"/>
                </a:solidFill>
                <a:latin typeface="Noto Sans CJK KR"/>
              </a:defRPr>
            </a:pPr>
            <a:r>
              <a:t>*   원리: 얼굴 특징을 512차원 공간의 화살표(Vector)로 변환 후, 두 화살표 사이의 각도를 측정</a:t>
            </a:r>
          </a:p>
          <a:p>
            <a:pPr>
              <a:spcAft>
                <a:spcPts val="600"/>
              </a:spcAft>
              <a:defRPr sz="1800">
                <a:solidFill>
                  <a:srgbClr val="222222"/>
                </a:solidFill>
                <a:latin typeface="Noto Sans CJK KR"/>
              </a:defRPr>
            </a:pPr>
            <a:r>
              <a:t>*   판단: 각도가 좁을수록(방향이 같을수록) 동일인입니다. (cos 0° = 1.0)</a:t>
            </a:r>
          </a:p>
          <a:p>
            <a:pPr>
              <a:spcAft>
                <a:spcPts val="600"/>
              </a:spcAft>
              <a:defRPr sz="1800">
                <a:solidFill>
                  <a:srgbClr val="222222"/>
                </a:solidFill>
                <a:latin typeface="Noto Sans CJK KR"/>
              </a:defRPr>
            </a:pPr>
            <a:r>
              <a:t>```text</a:t>
            </a:r>
          </a:p>
          <a:p>
            <a:pPr>
              <a:spcAft>
                <a:spcPts val="600"/>
              </a:spcAft>
              <a:defRPr sz="1800">
                <a:solidFill>
                  <a:srgbClr val="222222"/>
                </a:solidFill>
                <a:latin typeface="Noto Sans CJK KR"/>
              </a:defRPr>
            </a:pPr>
            <a:r>
              <a:t>[ 벡터 매칭 시각화 (Vector Matching) ]</a:t>
            </a:r>
          </a:p>
          <a:p>
            <a:pPr>
              <a:spcAft>
                <a:spcPts val="600"/>
              </a:spcAft>
              <a:defRPr sz="1800">
                <a:solidFill>
                  <a:srgbClr val="222222"/>
                </a:solidFill>
                <a:latin typeface="Noto Sans CJK KR"/>
              </a:defRPr>
            </a:pPr>
            <a:r>
              <a:t>Vector A (등록된 사원 얼굴)</a:t>
            </a:r>
          </a:p>
          <a:p>
            <a:pPr>
              <a:spcAft>
                <a:spcPts val="600"/>
              </a:spcAft>
              <a:defRPr sz="1800">
                <a:solidFill>
                  <a:srgbClr val="222222"/>
                </a:solidFill>
                <a:latin typeface="Noto Sans CJK KR"/>
              </a:defRPr>
            </a:pPr>
            <a:r>
              <a:t>↗</a:t>
            </a:r>
          </a:p>
          <a:p>
            <a:pPr>
              <a:spcAft>
                <a:spcPts val="600"/>
              </a:spcAft>
              <a:defRPr sz="1800">
                <a:solidFill>
                  <a:srgbClr val="222222"/>
                </a:solidFill>
                <a:latin typeface="Noto Sans CJK KR"/>
              </a:defRPr>
            </a:pPr>
            <a:r>
              <a:t>/   θ (Angle) : 아주 좁음!</a:t>
            </a:r>
          </a:p>
          <a:p>
            <a:pPr>
              <a:spcAft>
                <a:spcPts val="600"/>
              </a:spcAft>
              <a:defRPr sz="1800">
                <a:solidFill>
                  <a:srgbClr val="222222"/>
                </a:solidFill>
                <a:latin typeface="Noto Sans CJK KR"/>
              </a:defRPr>
            </a:pPr>
            <a:r>
              <a:t>/_____________↗  Vector B (방금 찍힌 얼굴)</a:t>
            </a:r>
          </a:p>
          <a:p>
            <a:pPr>
              <a:spcAft>
                <a:spcPts val="600"/>
              </a:spcAft>
              <a:defRPr sz="1800">
                <a:solidFill>
                  <a:srgbClr val="222222"/>
                </a:solidFill>
                <a:latin typeface="Noto Sans CJK KR"/>
              </a:defRPr>
            </a:pPr>
            <a:r>
              <a:t>▶  cos(θ) 값이 1.0에 가까움  →  "일치 (Match!)" 🟢</a:t>
            </a:r>
          </a:p>
          <a:p>
            <a:pPr>
              <a:spcAft>
                <a:spcPts val="600"/>
              </a:spcAft>
              <a:defRPr sz="1800">
                <a:solidFill>
                  <a:srgbClr val="222222"/>
                </a:solidFill>
                <a:latin typeface="Noto Sans CJK KR"/>
              </a:defRPr>
            </a:pPr>
            <a:r>
              <a:t>▶  cos(θ) 값이 0.0에 가까움  →  "불일치 (Mismatch)" 🔴</a:t>
            </a:r>
          </a:p>
          <a:p>
            <a:pPr>
              <a:spcAft>
                <a:spcPts val="600"/>
              </a:spcAft>
              <a:defRPr sz="1800">
                <a:solidFill>
                  <a:srgbClr val="222222"/>
                </a:solidFill>
                <a:latin typeface="Noto Sans CJK KR"/>
              </a:defRPr>
            </a:pPr>
            <a:r>
              <a:t>```</a:t>
            </a:r>
          </a:p>
          <a:p>
            <a:pPr>
              <a:spcAft>
                <a:spcPts val="600"/>
              </a:spcAft>
              <a:defRPr sz="1800">
                <a:solidFill>
                  <a:srgbClr val="222222"/>
                </a:solidFill>
                <a:latin typeface="Noto Sans CJK KR"/>
              </a:defRPr>
            </a:pPr>
            <a:r>
              <a:t>- Authorization: 유사도 0.5 이상이면 "출입 승인" / 미만이면 "외부인 경고"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80467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B1F3A"/>
                </a:solidFill>
                <a:latin typeface="Noto Sans CJK KR"/>
              </a:defRPr>
            </a:pPr>
            <a:r>
              <a:t>5. 💻 핵심 코드 (Code Snippet)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97280"/>
            <a:ext cx="7863840" cy="5120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222222"/>
                </a:solidFill>
                <a:latin typeface="Noto Sans CJK KR"/>
              </a:defRPr>
            </a:pPr>
            <a:r>
              <a:t>PPT에 넣을 실제 "낙상 판단 함수"입니다. 단 10줄의 코드로 작동합니다.</a:t>
            </a:r>
          </a:p>
          <a:p>
            <a:pPr>
              <a:spcAft>
                <a:spcPts val="600"/>
              </a:spcAft>
              <a:defRPr sz="1800">
                <a:solidFill>
                  <a:srgbClr val="222222"/>
                </a:solidFill>
                <a:latin typeface="Noto Sans CJK KR"/>
              </a:defRPr>
            </a:pPr>
            <a:r>
              <a:t>```python</a:t>
            </a:r>
          </a:p>
          <a:p>
            <a:pPr>
              <a:spcAft>
                <a:spcPts val="600"/>
              </a:spcAft>
              <a:defRPr sz="1800">
                <a:solidFill>
                  <a:srgbClr val="222222"/>
                </a:solidFill>
                <a:latin typeface="Noto Sans CJK KR"/>
              </a:defRPr>
            </a:pPr>
            <a:r>
              <a:t>def check_fall_rule(bbox, keypoints):</a:t>
            </a:r>
          </a:p>
          <a:p>
            <a:pPr>
              <a:spcAft>
                <a:spcPts val="600"/>
              </a:spcAft>
              <a:defRPr sz="1800">
                <a:solidFill>
                  <a:srgbClr val="222222"/>
                </a:solidFill>
                <a:latin typeface="Noto Sans CJK KR"/>
              </a:defRPr>
            </a:pPr>
            <a:r>
              <a:t>x, y, w, h = bbox</a:t>
            </a:r>
          </a:p>
          <a:p>
            <a:pPr>
              <a:spcAft>
                <a:spcPts val="600"/>
              </a:spcAft>
              <a:defRPr sz="1800">
                <a:solidFill>
                  <a:srgbClr val="222222"/>
                </a:solidFill>
                <a:latin typeface="Noto Sans CJK KR"/>
              </a:defRPr>
            </a:pPr>
            <a:r>
              <a:t>if w &gt; h * 0.9:</a:t>
            </a:r>
          </a:p>
          <a:p>
            <a:pPr>
              <a:spcAft>
                <a:spcPts val="600"/>
              </a:spcAft>
              <a:defRPr sz="1800">
                <a:solidFill>
                  <a:srgbClr val="222222"/>
                </a:solidFill>
                <a:latin typeface="Noto Sans CJK KR"/>
              </a:defRPr>
            </a:pPr>
            <a:r>
              <a:t>return True  # Fall!</a:t>
            </a:r>
          </a:p>
          <a:p>
            <a:pPr>
              <a:spcAft>
                <a:spcPts val="600"/>
              </a:spcAft>
              <a:defRPr sz="1800">
                <a:solidFill>
                  <a:srgbClr val="222222"/>
                </a:solidFill>
                <a:latin typeface="Noto Sans CJK KR"/>
              </a:defRPr>
            </a:pPr>
            <a:r>
              <a:t>shoulder_y = (kpts[5].y + kpts[6].y) / 2</a:t>
            </a:r>
          </a:p>
          <a:p>
            <a:pPr>
              <a:spcAft>
                <a:spcPts val="600"/>
              </a:spcAft>
              <a:defRPr sz="1800">
                <a:solidFill>
                  <a:srgbClr val="222222"/>
                </a:solidFill>
                <a:latin typeface="Noto Sans CJK KR"/>
              </a:defRPr>
            </a:pPr>
            <a:r>
              <a:t>hip_y      = (kpts[11].y + kpts[12].y) / 2</a:t>
            </a:r>
          </a:p>
          <a:p>
            <a:pPr>
              <a:spcAft>
                <a:spcPts val="600"/>
              </a:spcAft>
              <a:defRPr sz="1800">
                <a:solidFill>
                  <a:srgbClr val="222222"/>
                </a:solidFill>
                <a:latin typeface="Noto Sans CJK KR"/>
              </a:defRPr>
            </a:pPr>
            <a:r>
              <a:t>if shoulder_y &gt; hip_y:</a:t>
            </a:r>
          </a:p>
          <a:p>
            <a:pPr>
              <a:spcAft>
                <a:spcPts val="600"/>
              </a:spcAft>
              <a:defRPr sz="1800">
                <a:solidFill>
                  <a:srgbClr val="222222"/>
                </a:solidFill>
                <a:latin typeface="Noto Sans CJK KR"/>
              </a:defRPr>
            </a:pPr>
            <a:r>
              <a:t>return True # Fall!</a:t>
            </a:r>
          </a:p>
          <a:p>
            <a:pPr>
              <a:spcAft>
                <a:spcPts val="600"/>
              </a:spcAft>
              <a:defRPr sz="1800">
                <a:solidFill>
                  <a:srgbClr val="222222"/>
                </a:solidFill>
                <a:latin typeface="Noto Sans CJK KR"/>
              </a:defRPr>
            </a:pPr>
            <a:r>
              <a:t>vertical_diff = abs(shoulder_y - hip_y)</a:t>
            </a:r>
          </a:p>
          <a:p>
            <a:pPr>
              <a:spcAft>
                <a:spcPts val="600"/>
              </a:spcAft>
              <a:defRPr sz="1800">
                <a:solidFill>
                  <a:srgbClr val="222222"/>
                </a:solidFill>
                <a:latin typeface="Noto Sans CJK KR"/>
              </a:defRPr>
            </a:pPr>
            <a:r>
              <a:t>if vertical_diff &lt; h * 0.2:</a:t>
            </a:r>
          </a:p>
          <a:p>
            <a:pPr>
              <a:spcAft>
                <a:spcPts val="600"/>
              </a:spcAft>
              <a:defRPr sz="1800">
                <a:solidFill>
                  <a:srgbClr val="222222"/>
                </a:solidFill>
                <a:latin typeface="Noto Sans CJK KR"/>
              </a:defRPr>
            </a:pPr>
            <a:r>
              <a:t>return True  # Fall!</a:t>
            </a:r>
          </a:p>
          <a:p>
            <a:pPr>
              <a:spcAft>
                <a:spcPts val="600"/>
              </a:spcAft>
              <a:defRPr sz="1800">
                <a:solidFill>
                  <a:srgbClr val="222222"/>
                </a:solidFill>
                <a:latin typeface="Noto Sans CJK KR"/>
              </a:defRPr>
            </a:pPr>
            <a:r>
              <a:t>return False # Normal</a:t>
            </a:r>
          </a:p>
          <a:p>
            <a:pPr>
              <a:spcAft>
                <a:spcPts val="600"/>
              </a:spcAft>
              <a:defRPr sz="1800">
                <a:solidFill>
                  <a:srgbClr val="222222"/>
                </a:solidFill>
                <a:latin typeface="Noto Sans CJK KR"/>
              </a:defRPr>
            </a:pPr>
            <a:r>
              <a:t>```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